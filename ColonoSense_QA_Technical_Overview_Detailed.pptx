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ColonoSense Detailed QA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Per-Question Breakdown &amp; Evaluation Mathematics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Mathematics &amp;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Data Retrieval: (Correct Anchors) / (Expected Anchors)</a:t>
            </a:r>
          </a:p>
          <a:p>
            <a:pPr>
              <a:defRPr sz="1600"/>
            </a:pPr>
            <a:r>
              <a:t>2. Correctness: 1 - [(Hallucinations + Contradictions) / (Total Facts)]</a:t>
            </a:r>
          </a:p>
          <a:p>
            <a:pPr>
              <a:defRPr sz="1600"/>
            </a:pPr>
            <a:r>
              <a:t>3. Concordance: (Matched STRIDE-II Rules) / (Applicable Rules)</a:t>
            </a:r>
          </a:p>
          <a:p>
            <a:pPr>
              <a:defRPr sz="1600"/>
            </a:pPr>
            <a:r>
              <a:t>4. Completeness: (Filled Template Fields) / (Total Required Fields)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Concept: What are 'Anchors'?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 ColonoSense, 'Anchors' refer to the exact, pre-calculated numeric values extracted deterministically from the Excel database.</a:t>
            </a:r>
          </a:p>
          <a:p>
            <a:pPr>
              <a:defRPr sz="1600"/>
            </a:pPr>
            <a:r>
              <a:t>Expected Anchors: The total number of numeric data points (e.g., CRP, MES, FC) required by the trial rubric for a specific question.</a:t>
            </a:r>
          </a:p>
          <a:p>
            <a:pPr>
              <a:defRPr sz="1600"/>
            </a:pPr>
            <a:r>
              <a:t>Correct Anchors: The number of times the LLM successfully copied those exact numbers into the final response without hallucinatory deviation.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Q1.1 - What is the disease severity for this pat...</a:t>
            </a:r>
          </a:p>
        </p:txBody>
      </p:sp>
      <p:pic>
        <p:nvPicPr>
          <p:cNvPr id="3" name="Picture 2" descr="ss_q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3/3 Anchors Extracted (Partial Mayo, MES max, Total Mayo).</a:t>
            </a:r>
            <a:br/>
            <a:r>
              <a:t>• Completeness = Filled all required lines including 'Final Clinical Conclusion'.</a:t>
            </a:r>
            <a:br/>
            <a:r>
              <a:t>• Correctness = No deviation; accurately copied MES max=1.</a:t>
            </a:r>
            <a:br/>
            <a:r>
              <a:t>• Concordance = 100% matched Mayo scoring mathematical threshold for Remission.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Q1.2 - What is the remission status for this pat...</a:t>
            </a:r>
          </a:p>
        </p:txBody>
      </p:sp>
      <p:pic>
        <p:nvPicPr>
          <p:cNvPr id="3" name="Picture 2" descr="ss_q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8/8 Anchors Extracted (CRP, FC, Nancy, MES, etc.).</a:t>
            </a:r>
            <a:br/>
            <a:r>
              <a:t>• Completeness = Populated all 7 structured bullet points required by the protocol.</a:t>
            </a:r>
            <a:br/>
            <a:r>
              <a:t>• Correctness = Successfully retained exact dates and lab values without hallucination.</a:t>
            </a:r>
            <a:br/>
            <a:r>
              <a:t>• Concordance = Matched STRIDE-II criteria for 'Endoscopic Remission'.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Q1.3 - What are the prognostic factors for this ...</a:t>
            </a:r>
          </a:p>
        </p:txBody>
      </p:sp>
      <p:pic>
        <p:nvPicPr>
          <p:cNvPr id="3" name="Picture 2" descr="ss_q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Extracted Age at Dx, Extent, and Medication Class (Index Drug).</a:t>
            </a:r>
            <a:br/>
            <a:r>
              <a:t>• Completeness = Successfully evaluated all 11 prognostic indicators.</a:t>
            </a:r>
            <a:br/>
            <a:r>
              <a:t>• Correctness = Identified missing fields (e.g., Smoking=None) and correctly defaulted them.</a:t>
            </a:r>
            <a:br/>
            <a:r>
              <a:t>• Concordance = Accurately flagged early age diagnosis as a poor prognostic factor.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Q2.1 - What treat-to-target status has this pati...</a:t>
            </a:r>
          </a:p>
        </p:txBody>
      </p:sp>
      <p:pic>
        <p:nvPicPr>
          <p:cNvPr id="3" name="Picture 2" descr="ss_q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Extracted exact treatment duration and dates.</a:t>
            </a:r>
            <a:br/>
            <a:r>
              <a:t>• Completeness = Generated [Short/Intermediate/Long Term] decision logic.</a:t>
            </a:r>
            <a:br/>
            <a:r>
              <a:t>• Correctness = Zero deviations from the provided dates.</a:t>
            </a:r>
            <a:br/>
            <a:r>
              <a:t>• Concordance = Matched STRIDE-II expected timeline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Q2.2 - Should the medication be adjusted for thi...</a:t>
            </a:r>
          </a:p>
        </p:txBody>
      </p:sp>
      <p:pic>
        <p:nvPicPr>
          <p:cNvPr id="3" name="Picture 2" descr="ss_q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Q2.3 - What is the recommended next treatment op...</a:t>
            </a:r>
          </a:p>
        </p:txBody>
      </p:sp>
      <p:pic>
        <p:nvPicPr>
          <p:cNvPr id="3" name="Picture 2" descr="ss_q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Q3.1 - What is the colorectal cancer screening p...</a:t>
            </a:r>
          </a:p>
        </p:txBody>
      </p:sp>
      <p:pic>
        <p:nvPicPr>
          <p:cNvPr id="3" name="Picture 2" descr="ss_q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Q3.2 - What other cancer screenings should this ...</a:t>
            </a:r>
          </a:p>
        </p:txBody>
      </p:sp>
      <p:pic>
        <p:nvPicPr>
          <p:cNvPr id="3" name="Picture 2" descr="ss_q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Q4.1 - What non-invasive monitoring exams are ne...</a:t>
            </a:r>
          </a:p>
        </p:txBody>
      </p:sp>
      <p:pic>
        <p:nvPicPr>
          <p:cNvPr id="3" name="Picture 2" descr="ss_q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Q4.2 - Is therapeutic drug monitoring recommende...</a:t>
            </a:r>
          </a:p>
        </p:txBody>
      </p:sp>
      <p:pic>
        <p:nvPicPr>
          <p:cNvPr id="3" name="Picture 2" descr="ss_q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Q4.3 - What medication-specific monitoring is re...</a:t>
            </a:r>
          </a:p>
        </p:txBody>
      </p:sp>
      <p:pic>
        <p:nvPicPr>
          <p:cNvPr id="3" name="Picture 2" descr="ss_q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Q4.4 - What opportunistic infection screenings a...</a:t>
            </a:r>
          </a:p>
        </p:txBody>
      </p:sp>
      <p:pic>
        <p:nvPicPr>
          <p:cNvPr id="3" name="Picture 2" descr="ss_q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Q5.1 - What dietary recommendations are needed?</a:t>
            </a:r>
          </a:p>
        </p:txBody>
      </p:sp>
      <p:pic>
        <p:nvPicPr>
          <p:cNvPr id="3" name="Picture 2" descr="ss_q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Q5.2 - What nutritional supplements or deficienc...</a:t>
            </a:r>
          </a:p>
        </p:txBody>
      </p:sp>
      <p:pic>
        <p:nvPicPr>
          <p:cNvPr id="3" name="Picture 2" descr="ss_q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Q5.3 - What lifestyle modifications are recommen...</a:t>
            </a:r>
          </a:p>
        </p:txBody>
      </p:sp>
      <p:pic>
        <p:nvPicPr>
          <p:cNvPr id="3" name="Picture 2" descr="ss_q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Q6.1 - Which medications are safe during pregnan...</a:t>
            </a:r>
          </a:p>
        </p:txBody>
      </p:sp>
      <p:pic>
        <p:nvPicPr>
          <p:cNvPr id="3" name="Picture 2" descr="ss_q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Q6.2 - What maternal risks does the patient face...</a:t>
            </a:r>
          </a:p>
        </p:txBody>
      </p:sp>
      <p:pic>
        <p:nvPicPr>
          <p:cNvPr id="3" name="Picture 2" descr="ss_q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Q6.3 - What fetal/neonatal risks does the patien...</a:t>
            </a:r>
          </a:p>
        </p:txBody>
      </p:sp>
      <p:pic>
        <p:nvPicPr>
          <p:cNvPr id="3" name="Picture 2" descr="ss_q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5131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Mathematical Proof of Metrics Applied to this Question:</a:t>
            </a:r>
          </a:p>
          <a:p>
            <a:pPr>
              <a:defRPr sz="1200"/>
            </a:pPr>
            <a:r>
              <a:t>• Retrieval = Successfully extracted context-specific RAG anchors.</a:t>
            </a:r>
            <a:br/>
            <a:r>
              <a:t>• Completeness = Generated all required lines for the trial rubric.</a:t>
            </a:r>
            <a:br/>
            <a:r>
              <a:t>• Correctness = No contradictions or hallucinations detected.</a:t>
            </a:r>
            <a:br/>
            <a:r>
              <a:t>• Concordance = Adhered to global clinical guidelines (STRIDE-II/ECCO).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ColonoSense — System Architecture &amp; User Flow</a:t>
            </a:r>
          </a:p>
        </p:txBody>
      </p:sp>
      <p:pic>
        <p:nvPicPr>
          <p:cNvPr id="3" name="Picture 2" descr="colonosense_user_flow_1776997052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11978640" cy="1197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